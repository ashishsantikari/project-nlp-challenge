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8" roundtripDataSignature="AMtx7miaAkwV3y2SWdgnSHJReRO1d0fb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914400" y="2926080"/>
            <a:ext cx="10362895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914400" y="572025"/>
            <a:ext cx="103629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W4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Fake News Detection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914400" y="2194560"/>
            <a:ext cx="10362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Using Machine Learning Algorithms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914400" y="3291840"/>
            <a:ext cx="10362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NLP Classification  |  Bag of Words  |  TF-IDF  |  GridSearchCV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728538" y="4648270"/>
            <a:ext cx="10734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Ashish Santikari and Nadya Stoyanova</a:t>
            </a:r>
            <a:endParaRPr b="1"/>
          </a:p>
        </p:txBody>
      </p:sp>
      <p:sp>
        <p:nvSpPr>
          <p:cNvPr id="89" name="Google Shape;89;p1"/>
          <p:cNvSpPr txBox="1"/>
          <p:nvPr/>
        </p:nvSpPr>
        <p:spPr>
          <a:xfrm>
            <a:off x="914388" y="6044590"/>
            <a:ext cx="1036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March 20</a:t>
            </a:r>
            <a:r>
              <a:rPr lang="en-US" sz="1800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800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/>
        </p:nvSpPr>
        <p:spPr>
          <a:xfrm>
            <a:off x="731520" y="365760"/>
            <a:ext cx="1072865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Problem Statement &amp; Dataset</a:t>
            </a:r>
            <a:endParaRPr/>
          </a:p>
        </p:txBody>
      </p:sp>
      <p:sp>
        <p:nvSpPr>
          <p:cNvPr id="95" name="Google Shape;95;p2"/>
          <p:cNvSpPr/>
          <p:nvPr/>
        </p:nvSpPr>
        <p:spPr>
          <a:xfrm>
            <a:off x="731520" y="960120"/>
            <a:ext cx="10728655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731520" y="1280160"/>
            <a:ext cx="50292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Classify news articles as Real (1) or Fake (0)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Binary classification using NLP techniques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~40,000 articles (19,999 real + 19,943 fake)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Features: title, text, subject, date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Balanced classes - no sampling needed</a:t>
            </a:r>
            <a:endParaRPr/>
          </a:p>
        </p:txBody>
      </p:sp>
      <p:pic>
        <p:nvPicPr>
          <p:cNvPr descr="chart_0.png" id="97" name="Google Shape;9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0720" y="1188720"/>
            <a:ext cx="5093062" cy="5303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/>
        </p:nvSpPr>
        <p:spPr>
          <a:xfrm>
            <a:off x="731520" y="365760"/>
            <a:ext cx="1072865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EDA: Title vs Text Length</a:t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731520" y="960120"/>
            <a:ext cx="10728655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art_1.png" id="104" name="Google Shape;10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647" y="1188720"/>
            <a:ext cx="10058400" cy="42724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/>
          <p:nvPr/>
        </p:nvSpPr>
        <p:spPr>
          <a:xfrm>
            <a:off x="731520" y="365760"/>
            <a:ext cx="1072865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EDA: Real vs Fake News Length Distribution</a:t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731520" y="960120"/>
            <a:ext cx="10728655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art_2.png" id="111" name="Google Shape;11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48711" y="1097280"/>
            <a:ext cx="7694273" cy="548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/>
          <p:nvPr/>
        </p:nvSpPr>
        <p:spPr>
          <a:xfrm>
            <a:off x="731495" y="36576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EDA: News Subject Distribution</a:t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731520" y="960120"/>
            <a:ext cx="10728655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art_3.png" id="118" name="Google Shape;11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188720"/>
            <a:ext cx="576072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art_4.png" id="119" name="Google Shape;11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26480" y="1188720"/>
            <a:ext cx="576072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5"/>
          <p:cNvSpPr txBox="1"/>
          <p:nvPr/>
        </p:nvSpPr>
        <p:spPr>
          <a:xfrm>
            <a:off x="731520" y="4114800"/>
            <a:ext cx="10728600" cy="19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Key Observations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Real news: primarily politicsNews and worldnews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Fake news: spread across 6 categories including Government News, left-news, politics, US_News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Subject alone can be a strong differentiator</a:t>
            </a:r>
            <a:endParaRPr b="0" i="0" sz="16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We skipped Subject as a feature as it was causing data overfitting due to 1-1 </a:t>
            </a:r>
            <a:r>
              <a:rPr b="1" lang="en-US" sz="16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correlation</a:t>
            </a:r>
            <a:r>
              <a:rPr b="1" lang="en-US" sz="16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 with </a:t>
            </a:r>
            <a:r>
              <a:rPr b="1" lang="en-US" sz="16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news being fake or true</a:t>
            </a:r>
            <a:endParaRPr b="1" sz="1600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/>
        </p:nvSpPr>
        <p:spPr>
          <a:xfrm>
            <a:off x="731520" y="365760"/>
            <a:ext cx="1072865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Preprocessing &amp; Feature Engineering</a:t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731520" y="960120"/>
            <a:ext cx="10728655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 txBox="1"/>
          <p:nvPr/>
        </p:nvSpPr>
        <p:spPr>
          <a:xfrm>
            <a:off x="731520" y="1371600"/>
            <a:ext cx="5029200" cy="21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Cleanup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Lowercase all text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Remove URLs (http/www links)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Remove punctuation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80/20 train-test split</a:t>
            </a:r>
            <a:endParaRPr/>
          </a:p>
        </p:txBody>
      </p:sp>
      <p:sp>
        <p:nvSpPr>
          <p:cNvPr id="128" name="Google Shape;128;p6"/>
          <p:cNvSpPr txBox="1"/>
          <p:nvPr/>
        </p:nvSpPr>
        <p:spPr>
          <a:xfrm>
            <a:off x="6400800" y="1371600"/>
            <a:ext cx="5029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Vectorization Methods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Bag of Words (CountVectorizer)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English stop words removed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Title + Text combined: 205,521 features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TF-IDF (TfidfVectorizer)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Term frequency-inverse document frequency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Title + Text combined: 206,105 features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 txBox="1"/>
          <p:nvPr/>
        </p:nvSpPr>
        <p:spPr>
          <a:xfrm>
            <a:off x="731520" y="365760"/>
            <a:ext cx="1072865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Naive Bayes (BernoulliNB)</a:t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731520" y="960120"/>
            <a:ext cx="10728655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 txBox="1"/>
          <p:nvPr/>
        </p:nvSpPr>
        <p:spPr>
          <a:xfrm>
            <a:off x="731520" y="1280160"/>
            <a:ext cx="50292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Configuration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Vectorizer: TF-IDF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GridSearchCV (5-fold CV)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Best alpha: 0.001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Best CV score: 0.9845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Test Results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Accuracy: 0.99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Confusion Matrix: [3947, 42] / [71, 3929]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Precision: 0.99 | Recall: 0.98 | F1: 0.99</a:t>
            </a:r>
            <a:endParaRPr/>
          </a:p>
        </p:txBody>
      </p:sp>
      <p:pic>
        <p:nvPicPr>
          <p:cNvPr descr="chart_5.png" id="136" name="Google Shape;13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0" y="1371600"/>
            <a:ext cx="5303520" cy="32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"/>
          <p:cNvSpPr txBox="1"/>
          <p:nvPr/>
        </p:nvSpPr>
        <p:spPr>
          <a:xfrm>
            <a:off x="731520" y="36576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latin typeface="Calibri"/>
                <a:ea typeface="Calibri"/>
                <a:cs typeface="Calibri"/>
                <a:sym typeface="Calibri"/>
              </a:rPr>
              <a:t>Logistic</a:t>
            </a: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Regression</a:t>
            </a:r>
            <a:endParaRPr/>
          </a:p>
        </p:txBody>
      </p:sp>
      <p:sp>
        <p:nvSpPr>
          <p:cNvPr id="142" name="Google Shape;142;p8"/>
          <p:cNvSpPr/>
          <p:nvPr/>
        </p:nvSpPr>
        <p:spPr>
          <a:xfrm>
            <a:off x="731520" y="960120"/>
            <a:ext cx="10728655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 txBox="1"/>
          <p:nvPr/>
        </p:nvSpPr>
        <p:spPr>
          <a:xfrm>
            <a:off x="731520" y="1280160"/>
            <a:ext cx="5029200" cy="40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Configuration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Vectorizer: TF-IDF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GridSearchCV (5-fold CV)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Best: L1 penalty, liblinear solver, max_iter=3000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Best CV score: 0.9955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Test Results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Accuracy: 1.00 </a:t>
            </a:r>
            <a:endParaRPr sz="1700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Confusion Matrix: [3970, 19] / [9, 3991]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Precision: 1.00 | Recall: 1.00 | F1: 1.00</a:t>
            </a:r>
            <a:endParaRPr/>
          </a:p>
        </p:txBody>
      </p:sp>
      <p:pic>
        <p:nvPicPr>
          <p:cNvPr descr="chart_6.png" id="144" name="Google Shape;14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0" y="1371600"/>
            <a:ext cx="5303520" cy="32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"/>
          <p:cNvSpPr txBox="1"/>
          <p:nvPr/>
        </p:nvSpPr>
        <p:spPr>
          <a:xfrm>
            <a:off x="731520" y="365760"/>
            <a:ext cx="1072865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Support Vector Machine (LinearSVC)</a:t>
            </a:r>
            <a:endParaRPr/>
          </a:p>
        </p:txBody>
      </p:sp>
      <p:sp>
        <p:nvSpPr>
          <p:cNvPr id="150" name="Google Shape;150;p9"/>
          <p:cNvSpPr/>
          <p:nvPr/>
        </p:nvSpPr>
        <p:spPr>
          <a:xfrm>
            <a:off x="731520" y="960120"/>
            <a:ext cx="10728655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 txBox="1"/>
          <p:nvPr/>
        </p:nvSpPr>
        <p:spPr>
          <a:xfrm>
            <a:off x="731520" y="1280160"/>
            <a:ext cx="50292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With Bag of Words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L1 penalty, max_iter=2000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Best CV score: 0.9967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Accuracy: 1.00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Confusion Matrix: [3979, 10] / [17, 3983]</a:t>
            </a:r>
            <a:endParaRPr/>
          </a:p>
        </p:txBody>
      </p:sp>
      <p:sp>
        <p:nvSpPr>
          <p:cNvPr id="152" name="Google Shape;152;p9"/>
          <p:cNvSpPr txBox="1"/>
          <p:nvPr/>
        </p:nvSpPr>
        <p:spPr>
          <a:xfrm>
            <a:off x="6400800" y="1280160"/>
            <a:ext cx="50292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With TF-IDF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L1 penalty, max_iter=2000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Best CV score: 0.9972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Accuracy: 1.00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Confusion Matrix: [3977, 12] / [3, 3997]</a:t>
            </a:r>
            <a:endParaRPr/>
          </a:p>
        </p:txBody>
      </p:sp>
      <p:pic>
        <p:nvPicPr>
          <p:cNvPr descr="chart_7.png" id="153" name="Google Shape;15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474720"/>
            <a:ext cx="5303520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art_8.png" id="154" name="Google Shape;15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7920" y="3474720"/>
            <a:ext cx="5303520" cy="32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"/>
          <p:cNvSpPr txBox="1"/>
          <p:nvPr/>
        </p:nvSpPr>
        <p:spPr>
          <a:xfrm>
            <a:off x="731520" y="365760"/>
            <a:ext cx="1072865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Aggregate Model Comparison</a:t>
            </a:r>
            <a:endParaRPr/>
          </a:p>
        </p:txBody>
      </p:sp>
      <p:sp>
        <p:nvSpPr>
          <p:cNvPr id="160" name="Google Shape;160;p10"/>
          <p:cNvSpPr/>
          <p:nvPr/>
        </p:nvSpPr>
        <p:spPr>
          <a:xfrm>
            <a:off x="731520" y="960120"/>
            <a:ext cx="10728655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art_9.png" id="161" name="Google Shape;16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447" y="1097280"/>
            <a:ext cx="10972800" cy="54588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"/>
          <p:cNvSpPr txBox="1"/>
          <p:nvPr/>
        </p:nvSpPr>
        <p:spPr>
          <a:xfrm>
            <a:off x="731520" y="365760"/>
            <a:ext cx="1072865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Validation on Unseen Data</a:t>
            </a:r>
            <a:endParaRPr/>
          </a:p>
        </p:txBody>
      </p:sp>
      <p:sp>
        <p:nvSpPr>
          <p:cNvPr id="167" name="Google Shape;167;p11"/>
          <p:cNvSpPr/>
          <p:nvPr/>
        </p:nvSpPr>
        <p:spPr>
          <a:xfrm>
            <a:off x="731520" y="960120"/>
            <a:ext cx="10728655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1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Testing with External Validation Data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4,956 articles from a separate validation dataset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Same preprocessing pipeline applied (lowercase, remove URLs, remove punctuation)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Used the TF-IDF vectorizers fitted on training data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Best model (SVM with TF-IDF) used for final predictions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Results exported to CSV for downstream use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Pipeline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Raw text  -&gt;  Cleanup  -&gt;  TF-IDF transform (fitted on train)  -&gt;  SVM predict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 txBox="1"/>
          <p:nvPr/>
        </p:nvSpPr>
        <p:spPr>
          <a:xfrm>
            <a:off x="731520" y="365760"/>
            <a:ext cx="1072865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174" name="Google Shape;174;p12"/>
          <p:cNvSpPr/>
          <p:nvPr/>
        </p:nvSpPr>
        <p:spPr>
          <a:xfrm>
            <a:off x="731520" y="960120"/>
            <a:ext cx="10728655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2"/>
          <p:cNvSpPr txBox="1"/>
          <p:nvPr/>
        </p:nvSpPr>
        <p:spPr>
          <a:xfrm>
            <a:off x="914400" y="1098500"/>
            <a:ext cx="10058400" cy="54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 b="1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Model Performance Ranking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SVM + TF-IDF: Best overall (CV: 0.9972, R2: 0.992)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SVM + BoW: Strong runner-up (CV: 0.9967, R2: 0.986)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Logistic Regression: Excellent (CV: 0.9955, R2: 0.986)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Naive Bayes: Good baseline (CV: 0.9845)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Takeaways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All models achieved &gt;98% accuracy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TF-IDF consistently outperformed Bag of Words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SVM with TF-IDF is the recommended model for production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GridSearchCV was essential for hyperparameter optimization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